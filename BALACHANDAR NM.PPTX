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tadata" ContentType="application/binary"/>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367" r:id="rId5"/>
    <p:sldId id="368" r:id="rId6"/>
    <p:sldId id="369" r:id="rId7"/>
    <p:sldId id="370" r:id="rId8"/>
    <p:sldId id="372" r:id="rId9"/>
    <p:sldId id="373" r:id="rId10"/>
    <p:sldId id="375" r:id="rId11"/>
    <p:sldId id="378" r:id="rId12"/>
    <p:sldId id="376" r:id="rId13"/>
    <p:sldId id="377" r:id="rId14"/>
    <p:sldId id="348"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A8"/>
    <a:srgbClr val="0000FF"/>
    <a:srgbClr val="213163"/>
    <a:srgbClr val="223366"/>
    <a:srgbClr val="001131"/>
    <a:srgbClr val="DDE8FF"/>
    <a:srgbClr val="851910"/>
    <a:srgbClr val="FFD5D5"/>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5033" autoAdjust="0"/>
  </p:normalViewPr>
  <p:slideViewPr>
    <p:cSldViewPr snapToGrid="0">
      <p:cViewPr varScale="1">
        <p:scale>
          <a:sx n="69" d="100"/>
          <a:sy n="69" d="100"/>
        </p:scale>
        <p:origin x="-826" y="-77"/>
      </p:cViewPr>
      <p:guideLst>
        <p:guide orient="horz" pos="588"/>
        <p:guide orient="horz" pos="852"/>
        <p:guide pos="144"/>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51" Type="http://schemas.openxmlformats.org/officeDocument/2006/relationships/tableStyles" Target="tableStyles.xml"/><Relationship Id="rId3" Type="http://schemas.openxmlformats.org/officeDocument/2006/relationships/customXml" Target="../customXml/item3.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49"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xmlns=""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0" indent="0">
              <a:buNone/>
            </a:pPr>
            <a:r>
              <a:rPr lang="en-US" b="1" dirty="0"/>
              <a:t>Slides</a:t>
            </a:r>
            <a:r>
              <a:rPr lang="en-US" dirty="0"/>
              <a:t>: Prepare a short slide deck (10-12 slides) summarizing the project objectives, methodology, and key results.</a:t>
            </a:r>
            <a:endParaRPr lang="en-IN"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pPr algn="r"/>
              <a:t>1</a:t>
            </a:fld>
            <a:endParaRPr lang="en-US" sz="1400" b="0" strike="noStrike" spc="-1">
              <a:latin typeface="Times New Roman"/>
            </a:endParaRPr>
          </a:p>
        </p:txBody>
      </p:sp>
    </p:spTree>
    <p:extLst>
      <p:ext uri="{BB962C8B-B14F-4D97-AF65-F5344CB8AC3E}">
        <p14:creationId xmlns:p14="http://schemas.microsoft.com/office/powerpoint/2010/main" xmlns=""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pPr algn="r"/>
              <a:t>2</a:t>
            </a:fld>
            <a:endParaRPr lang="en-US" sz="1400" b="0" strike="noStrike" spc="-1">
              <a:latin typeface="Times New Roman"/>
            </a:endParaRPr>
          </a:p>
        </p:txBody>
      </p:sp>
    </p:spTree>
    <p:extLst>
      <p:ext uri="{BB962C8B-B14F-4D97-AF65-F5344CB8AC3E}">
        <p14:creationId xmlns:p14="http://schemas.microsoft.com/office/powerpoint/2010/main" xmlns="" val="85177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a:t>thank you very much for joining</a:t>
            </a:r>
            <a:r>
              <a:rPr lang="en-IN" b="0"/>
              <a:t> this </a:t>
            </a:r>
            <a:r>
              <a:rPr lang="en-IN"/>
              <a:t>PPT</a:t>
            </a:r>
            <a:r>
              <a:rPr lang="en-IN" b="0"/>
              <a:t>, keep learning.</a:t>
            </a: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pPr algn="r">
                <a:lnSpc>
                  <a:spcPct val="100000"/>
                </a:lnSpc>
              </a:pPr>
              <a:t>11</a:t>
            </a:fld>
            <a:endParaRPr lang="en-US" sz="1200" b="0" strike="noStrike" spc="-1">
              <a:latin typeface="Times New Roman"/>
            </a:endParaRPr>
          </a:p>
        </p:txBody>
      </p:sp>
    </p:spTree>
    <p:extLst>
      <p:ext uri="{BB962C8B-B14F-4D97-AF65-F5344CB8AC3E}">
        <p14:creationId xmlns:p14="http://schemas.microsoft.com/office/powerpoint/2010/main" xmlns="" val="2385314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189" lvl="0" indent="-342892" algn="l">
              <a:lnSpc>
                <a:spcPct val="115000"/>
              </a:lnSpc>
              <a:spcBef>
                <a:spcPts val="0"/>
              </a:spcBef>
              <a:spcAft>
                <a:spcPts val="0"/>
              </a:spcAft>
              <a:buSzPts val="1800"/>
              <a:buChar char="●"/>
              <a:defRPr/>
            </a:lvl1pPr>
            <a:lvl2pPr marL="914378" lvl="1" indent="-317492" algn="l">
              <a:lnSpc>
                <a:spcPct val="115000"/>
              </a:lnSpc>
              <a:spcBef>
                <a:spcPts val="1600"/>
              </a:spcBef>
              <a:spcAft>
                <a:spcPts val="0"/>
              </a:spcAft>
              <a:buSzPts val="1400"/>
              <a:buChar char="○"/>
              <a:defRPr/>
            </a:lvl2pPr>
            <a:lvl3pPr marL="1371566" lvl="2" indent="-317492" algn="l">
              <a:lnSpc>
                <a:spcPct val="115000"/>
              </a:lnSpc>
              <a:spcBef>
                <a:spcPts val="1600"/>
              </a:spcBef>
              <a:spcAft>
                <a:spcPts val="0"/>
              </a:spcAft>
              <a:buSzPts val="1400"/>
              <a:buChar char="■"/>
              <a:defRPr/>
            </a:lvl3pPr>
            <a:lvl4pPr marL="1828754" lvl="3" indent="-317492" algn="l">
              <a:lnSpc>
                <a:spcPct val="115000"/>
              </a:lnSpc>
              <a:spcBef>
                <a:spcPts val="1600"/>
              </a:spcBef>
              <a:spcAft>
                <a:spcPts val="0"/>
              </a:spcAft>
              <a:buSzPts val="1400"/>
              <a:buChar char="●"/>
              <a:defRPr/>
            </a:lvl4pPr>
            <a:lvl5pPr marL="2285943" lvl="4" indent="-317492" algn="l">
              <a:lnSpc>
                <a:spcPct val="115000"/>
              </a:lnSpc>
              <a:spcBef>
                <a:spcPts val="1600"/>
              </a:spcBef>
              <a:spcAft>
                <a:spcPts val="0"/>
              </a:spcAft>
              <a:buSzPts val="1400"/>
              <a:buChar char="○"/>
              <a:defRPr/>
            </a:lvl5pPr>
            <a:lvl6pPr marL="2743132" lvl="5" indent="-317492" algn="l">
              <a:lnSpc>
                <a:spcPct val="115000"/>
              </a:lnSpc>
              <a:spcBef>
                <a:spcPts val="1600"/>
              </a:spcBef>
              <a:spcAft>
                <a:spcPts val="0"/>
              </a:spcAft>
              <a:buSzPts val="1400"/>
              <a:buChar char="■"/>
              <a:defRPr/>
            </a:lvl6pPr>
            <a:lvl7pPr marL="3200320" lvl="6" indent="-317492" algn="l">
              <a:lnSpc>
                <a:spcPct val="115000"/>
              </a:lnSpc>
              <a:spcBef>
                <a:spcPts val="1600"/>
              </a:spcBef>
              <a:spcAft>
                <a:spcPts val="0"/>
              </a:spcAft>
              <a:buSzPts val="1400"/>
              <a:buChar char="●"/>
              <a:defRPr/>
            </a:lvl7pPr>
            <a:lvl8pPr marL="3657509" lvl="7" indent="-317492" algn="l">
              <a:lnSpc>
                <a:spcPct val="115000"/>
              </a:lnSpc>
              <a:spcBef>
                <a:spcPts val="1600"/>
              </a:spcBef>
              <a:spcAft>
                <a:spcPts val="0"/>
              </a:spcAft>
              <a:buSzPts val="1400"/>
              <a:buChar char="○"/>
              <a:defRPr/>
            </a:lvl8pPr>
            <a:lvl9pPr marL="4114697" lvl="8" indent="-317492"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xmlns="" val="536418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EB20AF-DAB3-AF56-0E9E-AF09366E1C58}"/>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D4E94062-A8DA-FF94-75FB-627CFD210DDB}"/>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77C2465-8FB6-450F-4CAF-67F82FD4C166}"/>
              </a:ext>
            </a:extLst>
          </p:cNvPr>
          <p:cNvSpPr>
            <a:spLocks noGrp="1"/>
          </p:cNvSpPr>
          <p:nvPr>
            <p:ph type="dt" sz="half" idx="10"/>
          </p:nvPr>
        </p:nvSpPr>
        <p:spPr>
          <a:xfrm>
            <a:off x="628650" y="4767263"/>
            <a:ext cx="2057400" cy="274637"/>
          </a:xfrm>
          <a:prstGeom prst="rect">
            <a:avLst/>
          </a:prstGeom>
        </p:spPr>
        <p:txBody>
          <a:bodyPr/>
          <a:lstStyle/>
          <a:p>
            <a:fld id="{81BF06D3-496D-4060-A653-877D7024FA53}" type="datetime1">
              <a:rPr lang="en-IN" smtClean="0"/>
              <a:pPr/>
              <a:t>24-11-2024</a:t>
            </a:fld>
            <a:endParaRPr lang="en-US"/>
          </a:p>
        </p:txBody>
      </p:sp>
      <p:sp>
        <p:nvSpPr>
          <p:cNvPr id="5" name="Footer Placeholder 4">
            <a:extLst>
              <a:ext uri="{FF2B5EF4-FFF2-40B4-BE49-F238E27FC236}">
                <a16:creationId xmlns:a16="http://schemas.microsoft.com/office/drawing/2014/main" xmlns="" id="{D86C3B52-DF7D-6850-E242-C3F4757D8A64}"/>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105730AA-ACFB-BBDD-7AA3-8CDEE55C3F27}"/>
              </a:ext>
            </a:extLst>
          </p:cNvPr>
          <p:cNvSpPr>
            <a:spLocks noGrp="1"/>
          </p:cNvSpPr>
          <p:nvPr>
            <p:ph type="sldNum" sz="quarter" idx="12"/>
          </p:nvPr>
        </p:nvSpPr>
        <p:spPr>
          <a:xfrm>
            <a:off x="6457950" y="4767263"/>
            <a:ext cx="2057400" cy="274637"/>
          </a:xfrm>
          <a:prstGeom prst="rect">
            <a:avLst/>
          </a:prstGeom>
        </p:spPr>
        <p:txBody>
          <a:bodyPr/>
          <a:lstStyle/>
          <a:p>
            <a:fld id="{5F533B4F-60C7-445E-9813-BC2C392C2510}" type="slidenum">
              <a:rPr lang="en-US" smtClean="0"/>
              <a:pPr/>
              <a:t>‹#›</a:t>
            </a:fld>
            <a:endParaRPr lang="en-US"/>
          </a:p>
        </p:txBody>
      </p:sp>
    </p:spTree>
    <p:extLst>
      <p:ext uri="{BB962C8B-B14F-4D97-AF65-F5344CB8AC3E}">
        <p14:creationId xmlns:p14="http://schemas.microsoft.com/office/powerpoint/2010/main" xmlns="" val="182341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Rectangle 5">
            <a:extLst>
              <a:ext uri="{FF2B5EF4-FFF2-40B4-BE49-F238E27FC236}">
                <a16:creationId xmlns:a16="http://schemas.microsoft.com/office/drawing/2014/main" xmlns="" id="{4DCED223-EF63-605A-08B3-3B52963FC6A6}"/>
              </a:ext>
            </a:extLst>
          </p:cNvPr>
          <p:cNvSpPr/>
          <p:nvPr userDrawn="1"/>
        </p:nvSpPr>
        <p:spPr>
          <a:xfrm>
            <a:off x="1" y="-78892"/>
            <a:ext cx="7088224" cy="467289"/>
          </a:xfrm>
          <a:prstGeom prst="rect">
            <a:avLst/>
          </a:prstGeom>
          <a:solidFill>
            <a:srgbClr val="223366"/>
          </a:solidFill>
          <a:ln>
            <a:solidFill>
              <a:srgbClr val="223366"/>
            </a:solidFill>
          </a:ln>
          <a:effectLst>
            <a:outerShdw blurRad="50800" dist="38100" dir="54000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t>Project Title</a:t>
            </a:r>
          </a:p>
        </p:txBody>
      </p:sp>
      <p:sp>
        <p:nvSpPr>
          <p:cNvPr id="9" name="Rectangle 8">
            <a:extLst>
              <a:ext uri="{FF2B5EF4-FFF2-40B4-BE49-F238E27FC236}">
                <a16:creationId xmlns:a16="http://schemas.microsoft.com/office/drawing/2014/main" xmlns="" id="{FF9D9AD1-C7C2-FFF1-54BA-8514D18B8369}"/>
              </a:ext>
            </a:extLst>
          </p:cNvPr>
          <p:cNvSpPr/>
          <p:nvPr userDrawn="1"/>
        </p:nvSpPr>
        <p:spPr>
          <a:xfrm>
            <a:off x="0" y="4935061"/>
            <a:ext cx="9144000" cy="208439"/>
          </a:xfrm>
          <a:prstGeom prst="rect">
            <a:avLst/>
          </a:prstGeom>
          <a:solidFill>
            <a:srgbClr val="8519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xmlns="" id="{12055C93-3B68-7B2F-D1BC-57DBBDF9047B}"/>
              </a:ext>
            </a:extLst>
          </p:cNvPr>
          <p:cNvPicPr>
            <a:picLocks noChangeAspect="1"/>
          </p:cNvPicPr>
          <p:nvPr userDrawn="1"/>
        </p:nvPicPr>
        <p:blipFill>
          <a:blip r:embed="rId13"/>
          <a:srcRect/>
          <a:stretch/>
        </p:blipFill>
        <p:spPr>
          <a:xfrm>
            <a:off x="7435308" y="29029"/>
            <a:ext cx="1245494" cy="405088"/>
          </a:xfrm>
          <a:prstGeom prst="rect">
            <a:avLst/>
          </a:prstGeom>
        </p:spPr>
      </p:pic>
      <p:sp>
        <p:nvSpPr>
          <p:cNvPr id="13" name="Rectangle 12">
            <a:extLst>
              <a:ext uri="{FF2B5EF4-FFF2-40B4-BE49-F238E27FC236}">
                <a16:creationId xmlns:a16="http://schemas.microsoft.com/office/drawing/2014/main" xmlns="" id="{327CC02B-8BB1-0D1C-2198-59015B45F89B}"/>
              </a:ext>
            </a:extLst>
          </p:cNvPr>
          <p:cNvSpPr/>
          <p:nvPr userDrawn="1"/>
        </p:nvSpPr>
        <p:spPr>
          <a:xfrm>
            <a:off x="9027886" y="0"/>
            <a:ext cx="116114" cy="467289"/>
          </a:xfrm>
          <a:prstGeom prst="rect">
            <a:avLst/>
          </a:prstGeom>
          <a:solidFill>
            <a:srgbClr val="00B0F0"/>
          </a:solidFill>
          <a:ln>
            <a:noFill/>
          </a:ln>
          <a:effectLst>
            <a:outerShdw blurRad="50800" dist="38100" dir="54000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666" r:id="rId1"/>
    <p:sldLayoutId id="2147483652" r:id="rId2"/>
    <p:sldLayoutId id="2147483653" r:id="rId3"/>
    <p:sldLayoutId id="2147483654" r:id="rId4"/>
    <p:sldLayoutId id="2147483668" r:id="rId5"/>
    <p:sldLayoutId id="2147483669" r:id="rId6"/>
    <p:sldLayoutId id="2147483670" r:id="rId7"/>
    <p:sldLayoutId id="2147483656" r:id="rId8"/>
    <p:sldLayoutId id="2147483657" r:id="rId9"/>
    <p:sldLayoutId id="2147483674" r:id="rId10"/>
    <p:sldLayoutId id="214748368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mailto:abisheikarm@gmail.com" TargetMode="External"/><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15EB3E8-4D66-E74C-AA85-D6FA3DDF1FCB}"/>
              </a:ext>
            </a:extLst>
          </p:cNvPr>
          <p:cNvPicPr>
            <a:picLocks noChangeAspect="1"/>
          </p:cNvPicPr>
          <p:nvPr/>
        </p:nvPicPr>
        <p:blipFill>
          <a:blip r:embed="rId3"/>
          <a:stretch>
            <a:fillRect/>
          </a:stretch>
        </p:blipFill>
        <p:spPr>
          <a:xfrm>
            <a:off x="-1" y="-122464"/>
            <a:ext cx="9144000" cy="5143500"/>
          </a:xfrm>
          <a:prstGeom prst="rect">
            <a:avLst/>
          </a:prstGeom>
        </p:spPr>
      </p:pic>
      <p:sp>
        <p:nvSpPr>
          <p:cNvPr id="5" name="Rectangle: Rounded Corners 4">
            <a:extLst>
              <a:ext uri="{FF2B5EF4-FFF2-40B4-BE49-F238E27FC236}">
                <a16:creationId xmlns:a16="http://schemas.microsoft.com/office/drawing/2014/main" xmlns="" id="{1BFECF01-5B37-F500-F5BF-94F4716E2D91}"/>
              </a:ext>
            </a:extLst>
          </p:cNvPr>
          <p:cNvSpPr/>
          <p:nvPr/>
        </p:nvSpPr>
        <p:spPr>
          <a:xfrm>
            <a:off x="1122744" y="1001693"/>
            <a:ext cx="6898511" cy="3102015"/>
          </a:xfrm>
          <a:prstGeom prst="roundRect">
            <a:avLst>
              <a:gd name="adj" fmla="val 8142"/>
            </a:avLst>
          </a:prstGeom>
          <a:solidFill>
            <a:srgbClr val="E5EEFF"/>
          </a:solidFill>
          <a:ln>
            <a:solidFill>
              <a:srgbClr val="9BDB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grpSp>
        <p:nvGrpSpPr>
          <p:cNvPr id="6" name="Group 5">
            <a:extLst>
              <a:ext uri="{FF2B5EF4-FFF2-40B4-BE49-F238E27FC236}">
                <a16:creationId xmlns:a16="http://schemas.microsoft.com/office/drawing/2014/main" xmlns="" id="{EBB721ED-22E4-6DB0-5857-C0300ED9B39A}"/>
              </a:ext>
            </a:extLst>
          </p:cNvPr>
          <p:cNvGrpSpPr/>
          <p:nvPr/>
        </p:nvGrpSpPr>
        <p:grpSpPr>
          <a:xfrm>
            <a:off x="1567263" y="1495382"/>
            <a:ext cx="6047412" cy="601034"/>
            <a:chOff x="1567263" y="1495382"/>
            <a:chExt cx="6047412" cy="601034"/>
          </a:xfrm>
        </p:grpSpPr>
        <p:pic>
          <p:nvPicPr>
            <p:cNvPr id="8" name="Google Shape;110;p4" descr="A close up of a sign&#10;&#10;Description automatically generated">
              <a:extLst>
                <a:ext uri="{FF2B5EF4-FFF2-40B4-BE49-F238E27FC236}">
                  <a16:creationId xmlns:a16="http://schemas.microsoft.com/office/drawing/2014/main" xmlns="" id="{C5DCF4E0-0C65-1FEB-0A76-8E20240537A0}"/>
                </a:ext>
              </a:extLst>
            </p:cNvPr>
            <p:cNvPicPr preferRelativeResize="0"/>
            <p:nvPr/>
          </p:nvPicPr>
          <p:blipFill rotWithShape="1">
            <a:blip r:embed="rId4">
              <a:alphaModFix/>
            </a:blip>
            <a:srcRect/>
            <a:stretch/>
          </p:blipFill>
          <p:spPr>
            <a:xfrm>
              <a:off x="4755974" y="1620847"/>
              <a:ext cx="1163978" cy="389110"/>
            </a:xfrm>
            <a:prstGeom prst="rect">
              <a:avLst/>
            </a:prstGeom>
            <a:noFill/>
            <a:ln>
              <a:noFill/>
            </a:ln>
          </p:spPr>
        </p:pic>
        <p:pic>
          <p:nvPicPr>
            <p:cNvPr id="11" name="Picture 10">
              <a:extLst>
                <a:ext uri="{FF2B5EF4-FFF2-40B4-BE49-F238E27FC236}">
                  <a16:creationId xmlns:a16="http://schemas.microsoft.com/office/drawing/2014/main" xmlns="" id="{4954FDD9-FF0B-C2F3-8CBA-8430CF9EF277}"/>
                </a:ext>
              </a:extLst>
            </p:cNvPr>
            <p:cNvPicPr>
              <a:picLocks noChangeAspect="1"/>
            </p:cNvPicPr>
            <p:nvPr/>
          </p:nvPicPr>
          <p:blipFill rotWithShape="1">
            <a:blip r:embed="rId5"/>
            <a:srcRect t="20552"/>
            <a:stretch/>
          </p:blipFill>
          <p:spPr>
            <a:xfrm>
              <a:off x="3675859" y="1608154"/>
              <a:ext cx="787775" cy="414497"/>
            </a:xfrm>
            <a:prstGeom prst="rect">
              <a:avLst/>
            </a:prstGeom>
          </p:spPr>
        </p:pic>
        <p:cxnSp>
          <p:nvCxnSpPr>
            <p:cNvPr id="15" name="Straight Connector 14">
              <a:extLst>
                <a:ext uri="{FF2B5EF4-FFF2-40B4-BE49-F238E27FC236}">
                  <a16:creationId xmlns:a16="http://schemas.microsoft.com/office/drawing/2014/main" xmlns="" id="{81703E3D-DC42-4972-13BC-75B3433F0AAC}"/>
                </a:ext>
              </a:extLst>
            </p:cNvPr>
            <p:cNvCxnSpPr>
              <a:cxnSpLocks/>
            </p:cNvCxnSpPr>
            <p:nvPr/>
          </p:nvCxnSpPr>
          <p:spPr>
            <a:xfrm>
              <a:off x="4609804" y="1534389"/>
              <a:ext cx="0" cy="562027"/>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xmlns="" id="{42864786-7EB9-0435-2B7E-A519DAC0B2C3}"/>
                </a:ext>
              </a:extLst>
            </p:cNvPr>
            <p:cNvCxnSpPr>
              <a:cxnSpLocks/>
            </p:cNvCxnSpPr>
            <p:nvPr/>
          </p:nvCxnSpPr>
          <p:spPr>
            <a:xfrm>
              <a:off x="6066122" y="1534389"/>
              <a:ext cx="0" cy="562027"/>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20" name="Picture 19">
              <a:extLst>
                <a:ext uri="{FF2B5EF4-FFF2-40B4-BE49-F238E27FC236}">
                  <a16:creationId xmlns:a16="http://schemas.microsoft.com/office/drawing/2014/main" xmlns="" id="{4C1401D8-FA66-1261-CD90-51590003DB53}"/>
                </a:ext>
              </a:extLst>
            </p:cNvPr>
            <p:cNvPicPr/>
            <p:nvPr/>
          </p:nvPicPr>
          <p:blipFill>
            <a:blip r:embed="rId6"/>
            <a:stretch/>
          </p:blipFill>
          <p:spPr>
            <a:xfrm>
              <a:off x="6212294" y="1633695"/>
              <a:ext cx="1402381" cy="363414"/>
            </a:xfrm>
            <a:prstGeom prst="rect">
              <a:avLst/>
            </a:prstGeom>
            <a:ln w="0">
              <a:noFill/>
            </a:ln>
          </p:spPr>
        </p:pic>
        <p:cxnSp>
          <p:nvCxnSpPr>
            <p:cNvPr id="21" name="Straight Connector 20">
              <a:extLst>
                <a:ext uri="{FF2B5EF4-FFF2-40B4-BE49-F238E27FC236}">
                  <a16:creationId xmlns:a16="http://schemas.microsoft.com/office/drawing/2014/main" xmlns="" id="{A3B6D403-A251-4241-C8B1-03F239798137}"/>
                </a:ext>
              </a:extLst>
            </p:cNvPr>
            <p:cNvCxnSpPr>
              <a:cxnSpLocks/>
            </p:cNvCxnSpPr>
            <p:nvPr/>
          </p:nvCxnSpPr>
          <p:spPr>
            <a:xfrm>
              <a:off x="3529689" y="1534389"/>
              <a:ext cx="0" cy="562027"/>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22" name="Picture 21" descr="A blue and black text&#10;&#10;Description automatically generated">
              <a:extLst>
                <a:ext uri="{FF2B5EF4-FFF2-40B4-BE49-F238E27FC236}">
                  <a16:creationId xmlns:a16="http://schemas.microsoft.com/office/drawing/2014/main" xmlns="" id="{7EE3A363-7C08-0337-B159-84F504E87478}"/>
                </a:ext>
              </a:extLst>
            </p:cNvPr>
            <p:cNvPicPr>
              <a:picLocks noChangeAspect="1"/>
            </p:cNvPicPr>
            <p:nvPr/>
          </p:nvPicPr>
          <p:blipFill>
            <a:blip r:embed="rId7"/>
            <a:stretch>
              <a:fillRect/>
            </a:stretch>
          </p:blipFill>
          <p:spPr>
            <a:xfrm>
              <a:off x="1567263" y="1495382"/>
              <a:ext cx="1816256" cy="454064"/>
            </a:xfrm>
            <a:prstGeom prst="rect">
              <a:avLst/>
            </a:prstGeom>
          </p:spPr>
        </p:pic>
      </p:grpSp>
      <p:sp>
        <p:nvSpPr>
          <p:cNvPr id="7" name="TextBox 6">
            <a:extLst>
              <a:ext uri="{FF2B5EF4-FFF2-40B4-BE49-F238E27FC236}">
                <a16:creationId xmlns:a16="http://schemas.microsoft.com/office/drawing/2014/main" xmlns="" id="{5FD0626E-7FFA-F384-1DF5-056574800B20}"/>
              </a:ext>
            </a:extLst>
          </p:cNvPr>
          <p:cNvSpPr txBox="1"/>
          <p:nvPr/>
        </p:nvSpPr>
        <p:spPr>
          <a:xfrm>
            <a:off x="1288973" y="2312365"/>
            <a:ext cx="6797408" cy="2616101"/>
          </a:xfrm>
          <a:prstGeom prst="rect">
            <a:avLst/>
          </a:prstGeom>
          <a:noFill/>
        </p:spPr>
        <p:txBody>
          <a:bodyPr wrap="square">
            <a:spAutoFit/>
          </a:bodyPr>
          <a:lstStyle/>
          <a:p>
            <a:pPr algn="ctr"/>
            <a:r>
              <a:rPr lang="en-US" sz="2800" b="1" dirty="0" smtClean="0">
                <a:latin typeface="Times New Roman" pitchFamily="18" charset="0"/>
                <a:cs typeface="Times New Roman" pitchFamily="18" charset="0"/>
              </a:rPr>
              <a:t>ECOMMERCE SALES ANALYSIS</a:t>
            </a:r>
          </a:p>
          <a:p>
            <a:endParaRPr lang="en-US" sz="1600" b="1" dirty="0" smtClean="0">
              <a:latin typeface="Times New Roman" pitchFamily="18" charset="0"/>
              <a:cs typeface="Times New Roman" pitchFamily="18" charset="0"/>
            </a:endParaRPr>
          </a:p>
          <a:p>
            <a:endParaRPr lang="en-US" sz="1600" b="1"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Done by :					Guide:</a:t>
            </a:r>
          </a:p>
          <a:p>
            <a:r>
              <a:rPr lang="en-US" sz="1600" dirty="0" err="1" smtClean="0">
                <a:latin typeface="Times New Roman" pitchFamily="18" charset="0"/>
                <a:cs typeface="Times New Roman" pitchFamily="18" charset="0"/>
              </a:rPr>
              <a:t>Balachandar</a:t>
            </a:r>
            <a:r>
              <a:rPr lang="en-US" sz="1600" dirty="0" smtClean="0">
                <a:latin typeface="Times New Roman" pitchFamily="18" charset="0"/>
                <a:cs typeface="Times New Roman" pitchFamily="18" charset="0"/>
              </a:rPr>
              <a:t>. N </a:t>
            </a:r>
            <a:r>
              <a:rPr lang="en-US" sz="1600" smtClean="0">
                <a:latin typeface="Times New Roman" pitchFamily="18" charset="0"/>
                <a:cs typeface="Times New Roman" pitchFamily="18" charset="0"/>
              </a:rPr>
              <a:t>(</a:t>
            </a:r>
            <a:r>
              <a:rPr lang="en-US" sz="1600" smtClean="0">
                <a:latin typeface="Times New Roman" pitchFamily="18" charset="0"/>
                <a:cs typeface="Times New Roman" pitchFamily="18" charset="0"/>
              </a:rPr>
              <a:t>au22me301</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P.Raja</a:t>
            </a:r>
            <a:endParaRPr lang="en-US" sz="28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hlinkClick r:id="rId8"/>
              </a:rPr>
              <a:t>chandrusarathy2001@gmail.com</a:t>
            </a:r>
            <a:r>
              <a:rPr lang="en-US" sz="1600" dirty="0" smtClean="0">
                <a:latin typeface="Times New Roman" pitchFamily="18" charset="0"/>
                <a:cs typeface="Times New Roman" pitchFamily="18" charset="0"/>
              </a:rPr>
              <a:t>			Master trainer </a:t>
            </a:r>
          </a:p>
          <a:p>
            <a:pPr algn="ctr"/>
            <a:endParaRPr lang="en-US" dirty="0" smtClean="0">
              <a:latin typeface="Times New Roman" pitchFamily="18" charset="0"/>
              <a:cs typeface="Times New Roman" pitchFamily="18" charset="0"/>
            </a:endParaRPr>
          </a:p>
          <a:p>
            <a:pPr algn="ctr"/>
            <a:endParaRPr lang="en-US" sz="1400" dirty="0" smtClean="0">
              <a:latin typeface="Times New Roman" pitchFamily="18" charset="0"/>
              <a:cs typeface="Times New Roman" pitchFamily="18" charset="0"/>
            </a:endParaRPr>
          </a:p>
          <a:p>
            <a:pPr algn="ctr"/>
            <a:endParaRPr lang="en-US" dirty="0" smtClean="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xmlns="" val="23707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TextBox 1174">
            <a:extLst>
              <a:ext uri="{FF2B5EF4-FFF2-40B4-BE49-F238E27FC236}">
                <a16:creationId xmlns:a16="http://schemas.microsoft.com/office/drawing/2014/main" xmlns="" id="{927410B5-1C26-2D39-1160-ABCF2EAFC484}"/>
              </a:ext>
            </a:extLst>
          </p:cNvPr>
          <p:cNvSpPr txBox="1"/>
          <p:nvPr/>
        </p:nvSpPr>
        <p:spPr>
          <a:xfrm>
            <a:off x="366152" y="598433"/>
            <a:ext cx="46242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002060"/>
                </a:solidFill>
                <a:latin typeface="Arial" panose="020B0604020202020204" pitchFamily="34" charset="0"/>
                <a:cs typeface="Arial" panose="020B0604020202020204" pitchFamily="34" charset="0"/>
              </a:rPr>
              <a:t>OUTLINE</a:t>
            </a:r>
            <a:endParaRPr lang="en-US" sz="900" b="1" dirty="0"/>
          </a:p>
        </p:txBody>
      </p:sp>
      <p:sp>
        <p:nvSpPr>
          <p:cNvPr id="4" name="TextBox 3">
            <a:extLst>
              <a:ext uri="{FF2B5EF4-FFF2-40B4-BE49-F238E27FC236}">
                <a16:creationId xmlns:a16="http://schemas.microsoft.com/office/drawing/2014/main" xmlns="" id="{E1494DD5-904E-76E9-38C0-10A35CC5BDD0}"/>
              </a:ext>
            </a:extLst>
          </p:cNvPr>
          <p:cNvSpPr txBox="1"/>
          <p:nvPr/>
        </p:nvSpPr>
        <p:spPr>
          <a:xfrm>
            <a:off x="654158" y="1060098"/>
            <a:ext cx="6935087" cy="3331810"/>
          </a:xfrm>
          <a:prstGeom prst="rect">
            <a:avLst/>
          </a:prstGeom>
          <a:noFill/>
        </p:spPr>
        <p:txBody>
          <a:bodyPr wrap="square">
            <a:spAutoFit/>
          </a:bodyPr>
          <a:lstStyle/>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solidFill>
                  <a:schemeClr val="tx1"/>
                </a:solidFill>
                <a:effectLst/>
                <a:latin typeface="+mj-lt"/>
                <a:ea typeface="Times New Roman" panose="02020603050405020304" pitchFamily="18" charset="0"/>
                <a:cs typeface="Times New Roman" panose="02020603050405020304" pitchFamily="18" charset="0"/>
              </a:rPr>
              <a:t>Abstract of the Project</a:t>
            </a:r>
            <a:endParaRPr lang="en-IN" sz="1800" dirty="0">
              <a:solidFill>
                <a:schemeClr val="tx1"/>
              </a:solidFill>
              <a:latin typeface="+mj-lt"/>
              <a:ea typeface="Times New Roman" panose="02020603050405020304" pitchFamily="18" charset="0"/>
              <a:cs typeface="Times New Roman" panose="02020603050405020304" pitchFamily="18" charset="0"/>
            </a:endParaRPr>
          </a:p>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latin typeface="+mj-lt"/>
                <a:ea typeface="+mn-lt"/>
                <a:cs typeface="Arial"/>
              </a:rPr>
              <a:t>Problem Statement</a:t>
            </a:r>
            <a:endParaRPr lang="en-US" sz="1800" dirty="0">
              <a:latin typeface="+mj-lt"/>
              <a:ea typeface="+mn-lt"/>
            </a:endParaRPr>
          </a:p>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latin typeface="+mj-lt"/>
                <a:ea typeface="+mn-lt"/>
                <a:cs typeface="Arial"/>
              </a:rPr>
              <a:t>Proposed Solution</a:t>
            </a:r>
            <a:endParaRPr lang="en-US" sz="1800" dirty="0">
              <a:latin typeface="+mj-lt"/>
              <a:ea typeface="+mn-lt"/>
            </a:endParaRPr>
          </a:p>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latin typeface="+mj-lt"/>
                <a:ea typeface="+mn-lt"/>
                <a:cs typeface="+mn-lt"/>
              </a:rPr>
              <a:t>System Architecture</a:t>
            </a:r>
            <a:endParaRPr lang="en-US" sz="1800" dirty="0">
              <a:latin typeface="+mj-lt"/>
              <a:ea typeface="+mn-lt"/>
              <a:cs typeface="Calibri"/>
            </a:endParaRPr>
          </a:p>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latin typeface="+mj-lt"/>
                <a:ea typeface="+mn-lt"/>
                <a:cs typeface="Arial"/>
              </a:rPr>
              <a:t>Live Demo of the Project</a:t>
            </a:r>
          </a:p>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latin typeface="+mj-lt"/>
                <a:ea typeface="+mn-lt"/>
                <a:cs typeface="Arial"/>
              </a:rPr>
              <a:t>Embedded</a:t>
            </a:r>
            <a:r>
              <a:rPr lang="en-US" sz="1800" dirty="0">
                <a:latin typeface="+mj-lt"/>
                <a:ea typeface="+mn-lt"/>
              </a:rPr>
              <a:t> Video of Project</a:t>
            </a:r>
          </a:p>
          <a:p>
            <a:pPr marL="285750" indent="-285750">
              <a:lnSpc>
                <a:spcPct val="115000"/>
              </a:lnSpc>
              <a:spcBef>
                <a:spcPts val="200"/>
              </a:spcBef>
              <a:spcAft>
                <a:spcPts val="600"/>
              </a:spcAft>
              <a:buFont typeface="Arial" panose="020B0604020202020204" pitchFamily="34" charset="0"/>
              <a:buChar char="•"/>
              <a:tabLst>
                <a:tab pos="4229100" algn="ctr"/>
              </a:tabLst>
            </a:pPr>
            <a:r>
              <a:rPr lang="en-IN" sz="1800" dirty="0">
                <a:latin typeface="+mj-lt"/>
                <a:ea typeface="+mn-lt"/>
                <a:cs typeface="Arial"/>
              </a:rPr>
              <a:t>Conclusion</a:t>
            </a:r>
            <a:endParaRPr lang="en-IN" sz="1800" dirty="0">
              <a:latin typeface="+mj-lt"/>
              <a:ea typeface="+mn-lt"/>
            </a:endParaRPr>
          </a:p>
          <a:p>
            <a:pPr marL="285750" indent="-285750">
              <a:lnSpc>
                <a:spcPct val="115000"/>
              </a:lnSpc>
              <a:spcBef>
                <a:spcPts val="200"/>
              </a:spcBef>
              <a:spcAft>
                <a:spcPts val="600"/>
              </a:spcAft>
              <a:buFont typeface="Arial" panose="020B0604020202020204" pitchFamily="34" charset="0"/>
              <a:buChar char="•"/>
              <a:tabLst>
                <a:tab pos="4229100" algn="ctr"/>
              </a:tabLst>
            </a:pPr>
            <a:r>
              <a:rPr lang="en-US" sz="1800" dirty="0">
                <a:latin typeface="+mj-lt"/>
                <a:ea typeface="+mn-lt"/>
                <a:cs typeface="Arial"/>
              </a:rPr>
              <a:t>Future Scope</a:t>
            </a:r>
          </a:p>
        </p:txBody>
      </p:sp>
    </p:spTree>
    <p:extLst>
      <p:ext uri="{BB962C8B-B14F-4D97-AF65-F5344CB8AC3E}">
        <p14:creationId xmlns:p14="http://schemas.microsoft.com/office/powerpoint/2010/main" xmlns="" val="12530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F78195-9B03-00E3-45B8-00FA85409CCC}"/>
              </a:ext>
            </a:extLst>
          </p:cNvPr>
          <p:cNvSpPr>
            <a:spLocks noGrp="1"/>
          </p:cNvSpPr>
          <p:nvPr>
            <p:ph type="title"/>
          </p:nvPr>
        </p:nvSpPr>
        <p:spPr>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2060"/>
                </a:solidFill>
                <a:latin typeface="Arial" panose="020B0604020202020204" pitchFamily="34" charset="0"/>
                <a:cs typeface="Arial" panose="020B0604020202020204" pitchFamily="34" charset="0"/>
              </a:rPr>
              <a:t>Abstract</a:t>
            </a:r>
            <a:endParaRPr lang="en-IN" sz="2400" b="1">
              <a:solidFill>
                <a:srgbClr val="002060"/>
              </a:solidFill>
              <a:latin typeface="Arial" panose="020B0604020202020204" pitchFamily="34" charset="0"/>
              <a:cs typeface="Arial" panose="020B0604020202020204" pitchFamily="34" charset="0"/>
            </a:endParaRPr>
          </a:p>
        </p:txBody>
      </p:sp>
      <p:sp>
        <p:nvSpPr>
          <p:cNvPr id="3" name="TextBox 2"/>
          <p:cNvSpPr txBox="1"/>
          <p:nvPr/>
        </p:nvSpPr>
        <p:spPr>
          <a:xfrm>
            <a:off x="951470" y="1149179"/>
            <a:ext cx="7438767" cy="1600438"/>
          </a:xfrm>
          <a:prstGeom prst="rect">
            <a:avLst/>
          </a:prstGeom>
          <a:noFill/>
        </p:spPr>
        <p:txBody>
          <a:bodyPr wrap="square" rtlCol="0">
            <a:spAutoFit/>
          </a:bodyPr>
          <a:lstStyle/>
          <a:p>
            <a:r>
              <a:rPr lang="en-US" dirty="0" smtClean="0"/>
              <a:t>This project report presents an analysis of sales data from an e-commerce platform, aiming to identify trends and key metrics to enhance business decision-making. We analyzed data for total sales, best-selling products, and customer purchase patterns using various data processing and visualization techniques. Our findings highlight the top revenue-generating categories and best-selling products, providing actionable insights for strategic inventory management and targeted marketing. The project concludes with recommendations to leverage high-demand products and profitable categories for business growth.</a:t>
            </a:r>
            <a:endParaRPr lang="en-US" dirty="0"/>
          </a:p>
        </p:txBody>
      </p:sp>
    </p:spTree>
    <p:extLst>
      <p:ext uri="{BB962C8B-B14F-4D97-AF65-F5344CB8AC3E}">
        <p14:creationId xmlns:p14="http://schemas.microsoft.com/office/powerpoint/2010/main" xmlns="" val="49215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D2E813-CB30-52BE-482F-A822E8D42EA5}"/>
              </a:ext>
            </a:extLst>
          </p:cNvPr>
          <p:cNvSpPr>
            <a:spLocks noGrp="1"/>
          </p:cNvSpPr>
          <p:nvPr>
            <p:ph type="title"/>
          </p:nvPr>
        </p:nvSpPr>
        <p:spPr>
          <a:xfrm>
            <a:off x="336414" y="593306"/>
            <a:ext cx="8520600" cy="572700"/>
          </a:xfrm>
        </p:spPr>
        <p:txBody>
          <a:bodyPr/>
          <a:lstStyle/>
          <a:p>
            <a:r>
              <a:rPr lang="en-US" sz="2400" b="1" dirty="0">
                <a:solidFill>
                  <a:srgbClr val="002060"/>
                </a:solidFill>
                <a:latin typeface="Arial" panose="020B0604020202020204" pitchFamily="34" charset="0"/>
                <a:cs typeface="Arial" panose="020B0604020202020204" pitchFamily="34" charset="0"/>
              </a:rPr>
              <a:t>Problem</a:t>
            </a:r>
            <a:r>
              <a:rPr lang="en-US" sz="1400" b="1" dirty="0">
                <a:solidFill>
                  <a:schemeClr val="accent1"/>
                </a:solidFill>
                <a:latin typeface="Arial" panose="020B0604020202020204" pitchFamily="34" charset="0"/>
                <a:cs typeface="Arial" panose="020B0604020202020204" pitchFamily="34" charset="0"/>
              </a:rPr>
              <a:t> </a:t>
            </a:r>
            <a:r>
              <a:rPr lang="en-US" sz="2400" b="1" dirty="0">
                <a:solidFill>
                  <a:srgbClr val="002060"/>
                </a:solidFill>
                <a:latin typeface="Arial" panose="020B0604020202020204" pitchFamily="34" charset="0"/>
                <a:cs typeface="Arial" panose="020B0604020202020204" pitchFamily="34" charset="0"/>
              </a:rPr>
              <a:t>Statement</a:t>
            </a:r>
            <a:endParaRPr lang="en-IN" sz="2400" b="1" dirty="0">
              <a:solidFill>
                <a:srgbClr val="002060"/>
              </a:solidFill>
              <a:latin typeface="Arial" panose="020B0604020202020204" pitchFamily="34" charset="0"/>
              <a:cs typeface="Arial" panose="020B0604020202020204" pitchFamily="34" charset="0"/>
            </a:endParaRPr>
          </a:p>
        </p:txBody>
      </p:sp>
      <p:sp>
        <p:nvSpPr>
          <p:cNvPr id="3" name="TextBox 2"/>
          <p:cNvSpPr txBox="1"/>
          <p:nvPr/>
        </p:nvSpPr>
        <p:spPr>
          <a:xfrm>
            <a:off x="1087394" y="1210962"/>
            <a:ext cx="7006281" cy="954107"/>
          </a:xfrm>
          <a:prstGeom prst="rect">
            <a:avLst/>
          </a:prstGeom>
          <a:noFill/>
        </p:spPr>
        <p:txBody>
          <a:bodyPr wrap="square" rtlCol="0">
            <a:spAutoFit/>
          </a:bodyPr>
          <a:lstStyle/>
          <a:p>
            <a:r>
              <a:rPr lang="en-US" dirty="0" smtClean="0"/>
              <a:t> E-commerce businesses accumulate extensive sales data, but without effective analysis, this data cannot contribute to growth. The problem addressed by this project is how to transform raw sales data into meaningful insights, focusing on key performance metrics.</a:t>
            </a:r>
          </a:p>
        </p:txBody>
      </p:sp>
    </p:spTree>
    <p:extLst>
      <p:ext uri="{BB962C8B-B14F-4D97-AF65-F5344CB8AC3E}">
        <p14:creationId xmlns:p14="http://schemas.microsoft.com/office/powerpoint/2010/main" xmlns="" val="3401695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5745DE-B712-F06B-67FA-D3D7D6FBF5DF}"/>
              </a:ext>
            </a:extLst>
          </p:cNvPr>
          <p:cNvSpPr>
            <a:spLocks noGrp="1"/>
          </p:cNvSpPr>
          <p:nvPr>
            <p:ph type="title"/>
          </p:nvPr>
        </p:nvSpPr>
        <p:spPr>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2060"/>
                </a:solidFill>
                <a:latin typeface="Arial" panose="020B0604020202020204" pitchFamily="34" charset="0"/>
                <a:cs typeface="Arial" panose="020B0604020202020204" pitchFamily="34" charset="0"/>
              </a:rPr>
              <a:t>Proposed Solution</a:t>
            </a:r>
            <a:endParaRPr lang="en-IN" sz="2400" b="1">
              <a:solidFill>
                <a:srgbClr val="002060"/>
              </a:solidFill>
              <a:latin typeface="Arial" panose="020B0604020202020204" pitchFamily="34" charset="0"/>
              <a:cs typeface="Arial" panose="020B0604020202020204" pitchFamily="34" charset="0"/>
            </a:endParaRPr>
          </a:p>
        </p:txBody>
      </p:sp>
      <p:sp>
        <p:nvSpPr>
          <p:cNvPr id="3" name="TextBox 2"/>
          <p:cNvSpPr txBox="1"/>
          <p:nvPr/>
        </p:nvSpPr>
        <p:spPr>
          <a:xfrm>
            <a:off x="926756" y="1272746"/>
            <a:ext cx="7068065" cy="954107"/>
          </a:xfrm>
          <a:prstGeom prst="rect">
            <a:avLst/>
          </a:prstGeom>
          <a:noFill/>
        </p:spPr>
        <p:txBody>
          <a:bodyPr wrap="square" rtlCol="0">
            <a:spAutoFit/>
          </a:bodyPr>
          <a:lstStyle/>
          <a:p>
            <a:r>
              <a:rPr lang="en-US" dirty="0" smtClean="0"/>
              <a:t>The proposed solution aims to transform raw sales data from an e-commerce platform into actionable insights, allowing the business to optimize inventory, enhance marketing strategies, and improve customer experience. The solution leverages a structured approach involving data processing, analysis, visualization, and interpretation.</a:t>
            </a:r>
            <a:endParaRPr lang="en-US" dirty="0"/>
          </a:p>
        </p:txBody>
      </p:sp>
    </p:spTree>
    <p:extLst>
      <p:ext uri="{BB962C8B-B14F-4D97-AF65-F5344CB8AC3E}">
        <p14:creationId xmlns:p14="http://schemas.microsoft.com/office/powerpoint/2010/main" xmlns="" val="3754400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xmlns="" id="{6AB8DAF2-B141-0C0D-4015-6BE8A25CFFD1}"/>
              </a:ext>
            </a:extLst>
          </p:cNvPr>
          <p:cNvSpPr>
            <a:spLocks noGrp="1"/>
          </p:cNvSpPr>
          <p:nvPr>
            <p:ph type="title"/>
          </p:nvPr>
        </p:nvSpPr>
        <p:spPr>
          <a:xfrm>
            <a:off x="311150" y="444500"/>
            <a:ext cx="8521700" cy="573088"/>
          </a:xfr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2060"/>
                </a:solidFill>
                <a:latin typeface="Arial" panose="020B0604020202020204" pitchFamily="34" charset="0"/>
                <a:cs typeface="Arial" panose="020B0604020202020204" pitchFamily="34" charset="0"/>
              </a:rPr>
              <a:t>System Architecture</a:t>
            </a:r>
          </a:p>
        </p:txBody>
      </p:sp>
      <p:sp>
        <p:nvSpPr>
          <p:cNvPr id="4" name="TextBox 3"/>
          <p:cNvSpPr txBox="1"/>
          <p:nvPr/>
        </p:nvSpPr>
        <p:spPr>
          <a:xfrm>
            <a:off x="840260" y="1087394"/>
            <a:ext cx="7809470" cy="1384995"/>
          </a:xfrm>
          <a:prstGeom prst="rect">
            <a:avLst/>
          </a:prstGeom>
          <a:noFill/>
        </p:spPr>
        <p:txBody>
          <a:bodyPr wrap="square" rtlCol="0">
            <a:spAutoFit/>
          </a:bodyPr>
          <a:lstStyle/>
          <a:p>
            <a:r>
              <a:rPr lang="en-US" b="1" dirty="0" smtClean="0"/>
              <a:t>Data Cleaning and Preprocessing:</a:t>
            </a:r>
            <a:r>
              <a:rPr lang="en-US" dirty="0" smtClean="0"/>
              <a:t> Handle missing values, normalize data.</a:t>
            </a:r>
          </a:p>
          <a:p>
            <a:r>
              <a:rPr lang="en-US" b="1" dirty="0" smtClean="0"/>
              <a:t>Metrics Calculation:</a:t>
            </a:r>
          </a:p>
          <a:p>
            <a:pPr lvl="4">
              <a:buFont typeface="Arial" pitchFamily="34" charset="0"/>
              <a:buChar char="•"/>
            </a:pPr>
            <a:r>
              <a:rPr lang="en-US" dirty="0" smtClean="0"/>
              <a:t>Total revenue calculation.</a:t>
            </a:r>
          </a:p>
          <a:p>
            <a:pPr lvl="4">
              <a:buFont typeface="Arial" pitchFamily="34" charset="0"/>
              <a:buChar char="•"/>
            </a:pPr>
            <a:r>
              <a:rPr lang="en-US" dirty="0" smtClean="0"/>
              <a:t>Identification of top products and categories.</a:t>
            </a:r>
          </a:p>
          <a:p>
            <a:r>
              <a:rPr lang="en-US" b="1" dirty="0" smtClean="0"/>
              <a:t>Data Visualization:</a:t>
            </a:r>
            <a:r>
              <a:rPr lang="en-US" dirty="0" smtClean="0"/>
              <a:t> Represent findings using bar charts and other visual aids to support decision-making.</a:t>
            </a:r>
            <a:endParaRPr lang="en-US" dirty="0"/>
          </a:p>
        </p:txBody>
      </p:sp>
    </p:spTree>
    <p:extLst>
      <p:ext uri="{BB962C8B-B14F-4D97-AF65-F5344CB8AC3E}">
        <p14:creationId xmlns:p14="http://schemas.microsoft.com/office/powerpoint/2010/main" xmlns="" val="167368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6545A-A71E-998F-6939-7CE2A36128CE}"/>
              </a:ext>
            </a:extLst>
          </p:cNvPr>
          <p:cNvSpPr>
            <a:spLocks noGrp="1"/>
          </p:cNvSpPr>
          <p:nvPr>
            <p:ph type="title"/>
          </p:nvPr>
        </p:nvSpPr>
        <p:spPr>
          <a:xfrm>
            <a:off x="311700" y="445025"/>
            <a:ext cx="8520600" cy="461665"/>
          </a:xfr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002060"/>
                </a:solidFill>
                <a:latin typeface="Arial" panose="020B0604020202020204" pitchFamily="34" charset="0"/>
                <a:cs typeface="Arial" panose="020B0604020202020204" pitchFamily="34" charset="0"/>
              </a:rPr>
              <a:t>Live Demo of Project</a:t>
            </a:r>
            <a:endParaRPr lang="en-IN" sz="24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1979684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B6A9F3CC-AB4B-D6F1-9346-AC2BB94FA663}"/>
              </a:ext>
            </a:extLst>
          </p:cNvPr>
          <p:cNvSpPr txBox="1">
            <a:spLocks/>
          </p:cNvSpPr>
          <p:nvPr/>
        </p:nvSpPr>
        <p:spPr>
          <a:xfrm>
            <a:off x="309740" y="375246"/>
            <a:ext cx="8520600"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a:solidFill>
                  <a:srgbClr val="002060"/>
                </a:solidFill>
                <a:latin typeface="Arial" panose="020B0604020202020204" pitchFamily="34" charset="0"/>
                <a:cs typeface="Arial" panose="020B0604020202020204" pitchFamily="34" charset="0"/>
              </a:rPr>
              <a:t>Video of Project Demo</a:t>
            </a:r>
            <a:endParaRPr lang="en-IN" sz="24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3124143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F90F4B-9803-CB1B-02A8-FB5D111C9F43}"/>
              </a:ext>
            </a:extLst>
          </p:cNvPr>
          <p:cNvSpPr>
            <a:spLocks noGrp="1"/>
          </p:cNvSpPr>
          <p:nvPr>
            <p:ph type="title"/>
          </p:nvPr>
        </p:nvSpPr>
        <p:spPr>
          <a:xfrm>
            <a:off x="262273" y="704517"/>
            <a:ext cx="8520600" cy="572700"/>
          </a:xfr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002060"/>
                </a:solidFill>
                <a:latin typeface="Arial" panose="020B0604020202020204" pitchFamily="34" charset="0"/>
                <a:cs typeface="Arial" panose="020B0604020202020204" pitchFamily="34" charset="0"/>
              </a:rPr>
              <a:t>Conclusion</a:t>
            </a:r>
            <a:endParaRPr lang="en-IN" sz="2400" b="1" dirty="0">
              <a:solidFill>
                <a:srgbClr val="002060"/>
              </a:solidFill>
              <a:latin typeface="Arial" panose="020B0604020202020204" pitchFamily="34" charset="0"/>
              <a:cs typeface="Arial" panose="020B0604020202020204" pitchFamily="34" charset="0"/>
            </a:endParaRPr>
          </a:p>
        </p:txBody>
      </p:sp>
      <p:sp>
        <p:nvSpPr>
          <p:cNvPr id="3" name="TextBox 2"/>
          <p:cNvSpPr txBox="1"/>
          <p:nvPr/>
        </p:nvSpPr>
        <p:spPr>
          <a:xfrm>
            <a:off x="926756" y="1248032"/>
            <a:ext cx="7685903" cy="1815882"/>
          </a:xfrm>
          <a:prstGeom prst="rect">
            <a:avLst/>
          </a:prstGeom>
          <a:noFill/>
        </p:spPr>
        <p:txBody>
          <a:bodyPr wrap="square" rtlCol="0">
            <a:spAutoFit/>
          </a:bodyPr>
          <a:lstStyle/>
          <a:p>
            <a:r>
              <a:rPr lang="en-US" dirty="0" smtClean="0"/>
              <a:t>This project presents a comprehensive approach to e-commerce sales analysis, transforming raw sales data into actionable insights that support strategic decision-making. By calculating key performance metrics, analyzing customer purchasing patterns, and identifying high-revenue products and categories, the project provides a robust framework for data-driven optimization in e-commerce. Through visualization and segmentation, it also highlights valuable trends that can guide marketing, inventory management, and product development. The scalable, privacy-conscious design ensures that this analysis is adaptable across different e-commerce platforms, from startups to larger enterprises, enhancing its applicability.</a:t>
            </a:r>
            <a:endParaRPr lang="en-US" dirty="0"/>
          </a:p>
        </p:txBody>
      </p:sp>
    </p:spTree>
    <p:extLst>
      <p:ext uri="{BB962C8B-B14F-4D97-AF65-F5344CB8AC3E}">
        <p14:creationId xmlns:p14="http://schemas.microsoft.com/office/powerpoint/2010/main" xmlns="" val="2174784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F10A2C-122D-B694-9544-674D5B7F3F6D}"/>
              </a:ext>
            </a:extLst>
          </p:cNvPr>
          <p:cNvSpPr>
            <a:spLocks noGrp="1"/>
          </p:cNvSpPr>
          <p:nvPr>
            <p:ph type="title"/>
          </p:nvPr>
        </p:nvSpPr>
        <p:spPr>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2060"/>
                </a:solidFill>
                <a:latin typeface="Arial" panose="020B0604020202020204" pitchFamily="34" charset="0"/>
                <a:cs typeface="Arial" panose="020B0604020202020204" pitchFamily="34" charset="0"/>
              </a:rPr>
              <a:t>Future Scope</a:t>
            </a:r>
            <a:endParaRPr lang="en-IN" sz="2400" b="1">
              <a:solidFill>
                <a:srgbClr val="002060"/>
              </a:solidFill>
              <a:latin typeface="Arial" panose="020B0604020202020204" pitchFamily="34" charset="0"/>
              <a:cs typeface="Arial" panose="020B0604020202020204" pitchFamily="34" charset="0"/>
            </a:endParaRPr>
          </a:p>
        </p:txBody>
      </p:sp>
      <p:sp>
        <p:nvSpPr>
          <p:cNvPr id="3" name="TextBox 2"/>
          <p:cNvSpPr txBox="1"/>
          <p:nvPr/>
        </p:nvSpPr>
        <p:spPr>
          <a:xfrm>
            <a:off x="617837" y="1025611"/>
            <a:ext cx="7846541" cy="3323987"/>
          </a:xfrm>
          <a:prstGeom prst="rect">
            <a:avLst/>
          </a:prstGeom>
          <a:noFill/>
        </p:spPr>
        <p:txBody>
          <a:bodyPr wrap="square" rtlCol="0">
            <a:spAutoFit/>
          </a:bodyPr>
          <a:lstStyle/>
          <a:p>
            <a:pPr lvl="0"/>
            <a:r>
              <a:rPr lang="en-US" b="1" dirty="0" smtClean="0"/>
              <a:t>Predictive Modeling for Demand Forecasting:</a:t>
            </a:r>
            <a:r>
              <a:rPr lang="en-US" dirty="0" smtClean="0"/>
              <a:t> Implement machine learning models such as ARIMA, LSTM, or gradient boosting to forecast future demand, improving inventory planning and reducing </a:t>
            </a:r>
            <a:r>
              <a:rPr lang="en-US" dirty="0" err="1" smtClean="0"/>
              <a:t>stockouts</a:t>
            </a:r>
            <a:r>
              <a:rPr lang="en-US" dirty="0" smtClean="0"/>
              <a:t> or overstocking.</a:t>
            </a:r>
          </a:p>
          <a:p>
            <a:pPr lvl="0"/>
            <a:r>
              <a:rPr lang="en-US" b="1" dirty="0" smtClean="0"/>
              <a:t>Real-Time Data Processing: </a:t>
            </a:r>
            <a:r>
              <a:rPr lang="en-US" dirty="0" smtClean="0"/>
              <a:t>Explore real-time data analytics to enable immediate decision-making, particularly useful for monitoring ongoing promotions or sudden changes in demand.</a:t>
            </a:r>
          </a:p>
          <a:p>
            <a:pPr lvl="0"/>
            <a:r>
              <a:rPr lang="en-US" b="1" dirty="0" smtClean="0"/>
              <a:t>Enhanced Customer Segmentation:</a:t>
            </a:r>
            <a:r>
              <a:rPr lang="en-US" dirty="0" smtClean="0"/>
              <a:t> Incorporate RFM analysis or clustering algorithms for deeper customer segmentation, allowing for more personalized marketing efforts and tailored product recommendations.</a:t>
            </a:r>
          </a:p>
          <a:p>
            <a:pPr lvl="0"/>
            <a:r>
              <a:rPr lang="en-US" b="1" dirty="0" smtClean="0"/>
              <a:t>Integration with External Data Sources:</a:t>
            </a:r>
            <a:r>
              <a:rPr lang="en-US" dirty="0" smtClean="0"/>
              <a:t> Enhance the analysis by incorporating external factors, such as economic indicators or social media sentiment, to refine sales forecasts and adapt to external influences.</a:t>
            </a:r>
          </a:p>
          <a:p>
            <a:pPr lvl="0"/>
            <a:r>
              <a:rPr lang="en-US" b="1" dirty="0" smtClean="0"/>
              <a:t>Privacy-Preserving Techniques:</a:t>
            </a:r>
            <a:r>
              <a:rPr lang="en-US" dirty="0" smtClean="0"/>
              <a:t> Implement advanced privacy-preserving analytics methods, such as differential privacy or federated learning, to ensure customer data security while continuing to derive valuable insights.</a:t>
            </a:r>
          </a:p>
          <a:p>
            <a:endParaRPr lang="en-US" dirty="0"/>
          </a:p>
        </p:txBody>
      </p:sp>
    </p:spTree>
    <p:extLst>
      <p:ext uri="{BB962C8B-B14F-4D97-AF65-F5344CB8AC3E}">
        <p14:creationId xmlns:p14="http://schemas.microsoft.com/office/powerpoint/2010/main" xmlns="" val="705114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g5fab984687_2_0">
            <a:extLst>
              <a:ext uri="{FF2B5EF4-FFF2-40B4-BE49-F238E27FC236}">
                <a16:creationId xmlns:a16="http://schemas.microsoft.com/office/drawing/2014/main" xmlns="" id="{AE76DA37-EEF4-E854-985B-BBFC06857B90}"/>
              </a:ext>
            </a:extLst>
          </p:cNvPr>
          <p:cNvSpPr txBox="1">
            <a:spLocks/>
          </p:cNvSpPr>
          <p:nvPr/>
        </p:nvSpPr>
        <p:spPr>
          <a:xfrm>
            <a:off x="3161462" y="2041411"/>
            <a:ext cx="2821075" cy="5303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ts val="600"/>
              </a:spcBef>
            </a:pPr>
            <a:r>
              <a:rPr lang="en-US" sz="3000" b="1"/>
              <a:t>Thank you!</a:t>
            </a:r>
          </a:p>
        </p:txBody>
      </p:sp>
    </p:spTree>
    <p:extLst>
      <p:ext uri="{BB962C8B-B14F-4D97-AF65-F5344CB8AC3E}">
        <p14:creationId xmlns:p14="http://schemas.microsoft.com/office/powerpoint/2010/main" xmlns="" val="188237828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21E1C5FD398A4287C0920180B68150" ma:contentTypeVersion="18" ma:contentTypeDescription="Create a new document." ma:contentTypeScope="" ma:versionID="26704334229d571494ec08df731579b2">
  <xsd:schema xmlns:xsd="http://www.w3.org/2001/XMLSchema" xmlns:xs="http://www.w3.org/2001/XMLSchema" xmlns:p="http://schemas.microsoft.com/office/2006/metadata/properties" xmlns:ns3="94eeb56d-118c-48c3-937f-7f05817f7373" xmlns:ns4="fe56e3b0-34a1-4d6f-a501-a0b2b7006a18" targetNamespace="http://schemas.microsoft.com/office/2006/metadata/properties" ma:root="true" ma:fieldsID="646583e16dee9c97f40ce908d27133ed" ns3:_="" ns4:_="">
    <xsd:import namespace="94eeb56d-118c-48c3-937f-7f05817f7373"/>
    <xsd:import namespace="fe56e3b0-34a1-4d6f-a501-a0b2b7006a1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eeb56d-118c-48c3-937f-7f05817f7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56e3b0-34a1-4d6f-a501-a0b2b7006a1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4eeb56d-118c-48c3-937f-7f05817f737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B6CD32-2537-46E7-8CC3-A58D44622414}">
  <ds:schemaRefs>
    <ds:schemaRef ds:uri="http://schemas.microsoft.com/office/2006/metadata/contentType"/>
    <ds:schemaRef ds:uri="http://schemas.microsoft.com/office/2006/metadata/properties/metaAttributes"/>
    <ds:schemaRef ds:uri="http://www.w3.org/2000/xmlns/"/>
    <ds:schemaRef ds:uri="http://www.w3.org/2001/XMLSchema"/>
    <ds:schemaRef ds:uri="94eeb56d-118c-48c3-937f-7f05817f7373"/>
    <ds:schemaRef ds:uri="fe56e3b0-34a1-4d6f-a501-a0b2b7006a18"/>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6559A34-456E-49A1-8157-9E3D18BFAD36}">
  <ds:schemaRefs>
    <ds:schemaRef ds:uri="http://schemas.microsoft.com/office/2006/metadata/properties"/>
    <ds:schemaRef ds:uri="http://www.w3.org/2000/xmlns/"/>
    <ds:schemaRef ds:uri="94eeb56d-118c-48c3-937f-7f05817f7373"/>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TotalTime>
  <Words>555</Words>
  <Application>Microsoft Office PowerPoint</Application>
  <PresentationFormat>On-screen Show (16:9)</PresentationFormat>
  <Paragraphs>45</Paragraphs>
  <Slides>11</Slides>
  <Notes>3</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Simple Light</vt:lpstr>
      <vt:lpstr>Slide 1</vt:lpstr>
      <vt:lpstr>Slide 2</vt:lpstr>
      <vt:lpstr>Abstract</vt:lpstr>
      <vt:lpstr>Problem Statement</vt:lpstr>
      <vt:lpstr>Proposed Solution</vt:lpstr>
      <vt:lpstr>System Architecture</vt:lpstr>
      <vt:lpstr>Live Demo of Project</vt:lpstr>
      <vt:lpstr>Slide 8</vt:lpstr>
      <vt:lpstr>Conclusion</vt:lpstr>
      <vt:lpstr>Future Scope</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AADHIESHWAR</dc:creator>
  <cp:lastModifiedBy>AADHI ESHWAR.K</cp:lastModifiedBy>
  <cp:revision>12</cp:revision>
  <dcterms:modified xsi:type="dcterms:W3CDTF">2024-11-23T19:36:28Z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0x0101009921E1C5FD398A4287C0920180B68150</vt:lpwstr>
  </property>
  <property fmtid="{D5CDD505-2E9C-101B-9397-08002B2CF9AE}" pid="3" name="MSIP_Label_defa4170-0d19-0005-0004-bc88714345d2_Enabled">
    <vt:lpwstr>true</vt:lpwstr>
  </property>
  <property fmtid="{D5CDD505-2E9C-101B-9397-08002B2CF9AE}" pid="4" name="MSIP_Label_defa4170-0d19-0005-0004-bc88714345d2_SetDate">
    <vt:lpwstr>2023-07-11T03:09:09Z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698b2528-286a-444d-a68d-b8bbb1f69870</vt:lpwstr>
  </property>
  <property fmtid="{D5CDD505-2E9C-101B-9397-08002B2CF9AE}" pid="8" name="MSIP_Label_defa4170-0d19-0005-0004-bc88714345d2_ActionId">
    <vt:lpwstr>9e872e44-4725-4b90-87d6-01f911260b79</vt:lpwstr>
  </property>
  <property fmtid="{D5CDD505-2E9C-101B-9397-08002B2CF9AE}" pid="9" name="MSIP_Label_defa4170-0d19-0005-0004-bc88714345d2_ContentBits">
    <vt:lpwstr>0</vt:lpwstr>
  </property>
</Properties>
</file>